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age1_img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Arial"/>
              </a:defRPr>
            </a:pPr>
            <a:r>
              <a:t>BUILD WITH AI · CODE FOR COMMUNITIES — SECOND EDITION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68580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FFFFFF"/>
                </a:solidFill>
                <a:latin typeface="Arial"/>
              </a:defRPr>
            </a:pPr>
            <a:r>
              <a:t>CIVICPULSE</a:t>
            </a:r>
            <a:br/>
            <a:r>
              <a:t>BRICS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97680"/>
            <a:ext cx="6858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rial"/>
              </a:defRPr>
            </a:pPr>
            <a:r>
              <a:t>Scalable AI-Driven Infrastructure Prioritization for Digital Public Goods</a:t>
            </a:r>
          </a:p>
          <a:p>
            <a:pPr>
              <a:defRPr sz="1400" i="1">
                <a:solidFill>
                  <a:srgbClr val="A0A6B2"/>
                </a:solidFill>
                <a:latin typeface="Arial"/>
              </a:defRPr>
            </a:pPr>
            <a:r>
              <a:t>“From Citizen Voices to Actionable Infrastructure Intelligence.”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3108960"/>
            <a:ext cx="3840480" cy="2926080"/>
          </a:xfrm>
          <a:prstGeom prst="roundRect">
            <a:avLst/>
          </a:prstGeom>
          <a:solidFill>
            <a:srgbClr val="10141A"/>
          </a:solidFill>
          <a:ln w="1270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6720" y="3291840"/>
            <a:ext cx="2560320" cy="411480"/>
          </a:xfrm>
          <a:prstGeom prst="roundRect">
            <a:avLst/>
          </a:prstGeom>
          <a:solidFill>
            <a:srgbClr val="233714"/>
          </a:solidFill>
          <a:ln w="12700">
            <a:solidFill>
              <a:srgbClr val="A3E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A3E635"/>
                </a:solidFill>
                <a:latin typeface="Arial"/>
              </a:defRPr>
            </a:pPr>
            <a:r>
              <a:t>TRACK: OPEN INNOVATION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840480"/>
            <a:ext cx="3383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A0A6B2"/>
                </a:solidFill>
                <a:latin typeface="Arial"/>
              </a:defRPr>
            </a:pPr>
            <a:r>
              <a:t>Team: [Team Name]  ·  Members: [Names + Roles]</a:t>
            </a:r>
          </a:p>
          <a:p>
            <a:pPr>
              <a:spcBef>
                <a:spcPts val="2400"/>
              </a:spcBef>
              <a:defRPr sz="1100" b="1">
                <a:solidFill>
                  <a:srgbClr val="FFFFFF"/>
                </a:solidFill>
                <a:latin typeface="Arial"/>
              </a:defRPr>
            </a:pPr>
            <a:r>
              <a:t>CITIZENS  →  AI  →  SECTOR HEALTH MATRIX &amp; TELEMETRY  →  POLICYMAKERS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4663440"/>
            <a:ext cx="1828800" cy="36576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Fragmented citizen voices delay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F4444"/>
                </a:solidFill>
                <a:latin typeface="Arial"/>
              </a:defRPr>
            </a:pPr>
            <a:r>
              <a:t>TODAY</a:t>
            </a:r>
          </a:p>
          <a:p>
            <a:pPr>
              <a:spcBef>
                <a:spcPts val="1600"/>
              </a:spcBef>
              <a:defRPr sz="1400">
                <a:solidFill>
                  <a:srgbClr val="FFFFFF"/>
                </a:solidFill>
                <a:latin typeface="Arial"/>
              </a:defRPr>
            </a:pPr>
            <a:r>
              <a:t>•  Voice, text, and messaging feedback is scattered across multiple channels.</a:t>
            </a:r>
          </a:p>
          <a:p>
            <a:pPr>
              <a:spcBef>
                <a:spcPts val="1600"/>
              </a:spcBef>
              <a:defRPr sz="1400">
                <a:solidFill>
                  <a:srgbClr val="FFFFFF"/>
                </a:solidFill>
                <a:latin typeface="Arial"/>
              </a:defRPr>
            </a:pPr>
            <a:r>
              <a:t>•  Reports arrive in different languages and regional dialects.</a:t>
            </a:r>
          </a:p>
          <a:p>
            <a:pPr>
              <a:spcBef>
                <a:spcPts val="1600"/>
              </a:spcBef>
              <a:defRPr sz="1400">
                <a:solidFill>
                  <a:srgbClr val="FFFFFF"/>
                </a:solidFill>
                <a:latin typeface="Arial"/>
              </a:defRPr>
            </a:pPr>
            <a:r>
              <a:t>•  Unstructured reports are difficult to analyze and deduplicate at scale.</a:t>
            </a:r>
          </a:p>
          <a:p>
            <a:pPr>
              <a:spcBef>
                <a:spcPts val="1600"/>
              </a:spcBef>
              <a:defRPr sz="1400">
                <a:solidFill>
                  <a:srgbClr val="FFFFFF"/>
                </a:solidFill>
                <a:latin typeface="Arial"/>
              </a:defRPr>
            </a:pPr>
            <a:r>
              <a:t>•  Critical infrastructure hotspots stay hard to detect before catastrophic failure.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73736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Arial"/>
              </a:defRPr>
            </a:pPr>
            <a:r>
              <a:t>1.  Citizen Reports</a:t>
            </a:r>
          </a:p>
          <a:p>
            <a:pPr>
              <a:spcBef>
                <a:spcPts val="800"/>
              </a:spcBef>
              <a:defRPr sz="1500" b="1">
                <a:solidFill>
                  <a:srgbClr val="FFFFFF"/>
                </a:solidFill>
                <a:latin typeface="Arial"/>
              </a:defRPr>
            </a:pPr>
            <a:r>
              <a:t>2.  Data Silos</a:t>
            </a:r>
          </a:p>
          <a:p>
            <a:pPr>
              <a:spcBef>
                <a:spcPts val="800"/>
              </a:spcBef>
              <a:defRPr sz="1500" b="1">
                <a:solidFill>
                  <a:srgbClr val="FFFFFF"/>
                </a:solidFill>
                <a:latin typeface="Arial"/>
              </a:defRPr>
            </a:pPr>
            <a:r>
              <a:t>3.  Limited Visibility</a:t>
            </a:r>
          </a:p>
          <a:p>
            <a:pPr>
              <a:spcBef>
                <a:spcPts val="800"/>
              </a:spcBef>
              <a:defRPr sz="1500" b="1">
                <a:solidFill>
                  <a:srgbClr val="FFFFFF"/>
                </a:solidFill>
                <a:latin typeface="Arial"/>
              </a:defRPr>
            </a:pPr>
            <a:r>
              <a:t>4.  Delayed Prioritization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3931920"/>
            <a:ext cx="5212080" cy="2103120"/>
          </a:xfrm>
          <a:prstGeom prst="roundRect">
            <a:avLst/>
          </a:prstGeom>
          <a:solidFill>
            <a:srgbClr val="121216"/>
          </a:solidFill>
          <a:ln w="12700">
            <a:solidFill>
              <a:srgbClr val="2D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41148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A0A6B2"/>
                </a:solidFill>
                <a:latin typeface="Arial"/>
              </a:defRPr>
            </a:pPr>
            <a:r>
              <a:t>CORE GAP</a:t>
            </a:r>
          </a:p>
          <a:p>
            <a:pPr>
              <a:spcBef>
                <a:spcPts val="800"/>
              </a:spcBef>
              <a:defRPr sz="2000" b="1">
                <a:solidFill>
                  <a:srgbClr val="FFFFFF"/>
                </a:solidFill>
                <a:latin typeface="Arial"/>
              </a:defRPr>
            </a:pPr>
            <a:r>
              <a:t>Citizen feedback exists.</a:t>
            </a:r>
          </a:p>
          <a:p>
            <a:pPr>
              <a:spcBef>
                <a:spcPts val="400"/>
              </a:spcBef>
              <a:defRPr sz="2000" b="1">
                <a:solidFill>
                  <a:srgbClr val="EF4444"/>
                </a:solidFill>
                <a:latin typeface="Arial"/>
              </a:defRPr>
            </a:pPr>
            <a:r>
              <a:t>Actionable intelligence doesn’t.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A3E635"/>
                </a:solidFill>
                <a:latin typeface="Arial"/>
              </a:defRPr>
            </a:pPr>
            <a:r>
              <a:t>THE SOLUTION</a:t>
            </a:r>
          </a:p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From feedback to action</a:t>
            </a:r>
          </a:p>
          <a:p>
            <a:pPr>
              <a:spcBef>
                <a:spcPts val="400"/>
              </a:spcBef>
              <a:defRPr sz="1400">
                <a:solidFill>
                  <a:srgbClr val="A0A6B2"/>
                </a:solidFill>
                <a:latin typeface="Arial"/>
              </a:defRPr>
            </a:pPr>
            <a:r>
              <a:t>CivicPulse BRICS turns citizen reports into geospatially prioritized infrastructure intelligence.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5120640" cy="868680"/>
          </a:xfrm>
          <a:prstGeom prst="roundRect">
            <a:avLst/>
          </a:prstGeom>
          <a:solidFill>
            <a:srgbClr val="14161C"/>
          </a:solidFill>
          <a:ln w="12700">
            <a:solidFill>
              <a:srgbClr val="28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Arial"/>
              </a:defRPr>
            </a:pPr>
            <a:r>
              <a:t>REPORT</a:t>
            </a:r>
          </a:p>
          <a:p>
            <a:pPr>
              <a:defRPr sz="1200">
                <a:solidFill>
                  <a:srgbClr val="FFFFFF"/>
                </a:solidFill>
                <a:latin typeface="Arial"/>
              </a:defRPr>
            </a:pPr>
            <a:r>
              <a:t>Voice / Text / Custom Location &amp; Auto-GPS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011680"/>
            <a:ext cx="5120640" cy="868680"/>
          </a:xfrm>
          <a:prstGeom prst="roundRect">
            <a:avLst/>
          </a:prstGeom>
          <a:solidFill>
            <a:srgbClr val="14161C"/>
          </a:solidFill>
          <a:ln w="12700">
            <a:solidFill>
              <a:srgbClr val="28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210312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Arial"/>
              </a:defRPr>
            </a:pPr>
            <a:r>
              <a:t>UNDERSTAND</a:t>
            </a:r>
          </a:p>
          <a:p>
            <a:pPr>
              <a:defRPr sz="1200">
                <a:solidFill>
                  <a:srgbClr val="FFFFFF"/>
                </a:solidFill>
                <a:latin typeface="Arial"/>
              </a:defRPr>
            </a:pPr>
            <a:r>
              <a:t>AI Transcription + Multilingual Translation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108960"/>
            <a:ext cx="5120640" cy="868680"/>
          </a:xfrm>
          <a:prstGeom prst="roundRect">
            <a:avLst/>
          </a:prstGeom>
          <a:solidFill>
            <a:srgbClr val="14161C"/>
          </a:solidFill>
          <a:ln w="12700">
            <a:solidFill>
              <a:srgbClr val="28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0040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Arial"/>
              </a:defRPr>
            </a:pPr>
            <a:r>
              <a:t>CLUSTER</a:t>
            </a:r>
          </a:p>
          <a:p>
            <a:pPr>
              <a:defRPr sz="1200">
                <a:solidFill>
                  <a:srgbClr val="FFFFFF"/>
                </a:solidFill>
                <a:latin typeface="Arial"/>
              </a:defRPr>
            </a:pPr>
            <a:r>
              <a:t>Geospatial Proximity Hotspots (10km DBSCAN)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108960"/>
            <a:ext cx="5120640" cy="868680"/>
          </a:xfrm>
          <a:prstGeom prst="roundRect">
            <a:avLst/>
          </a:prstGeom>
          <a:solidFill>
            <a:srgbClr val="14161C"/>
          </a:solidFill>
          <a:ln w="12700">
            <a:solidFill>
              <a:srgbClr val="28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320040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Arial"/>
              </a:defRPr>
            </a:pPr>
            <a:r>
              <a:t>PRIORITIZE</a:t>
            </a:r>
          </a:p>
          <a:p>
            <a:pPr>
              <a:defRPr sz="1200">
                <a:solidFill>
                  <a:srgbClr val="FFFFFF"/>
                </a:solidFill>
                <a:latin typeface="Arial"/>
              </a:defRPr>
            </a:pPr>
            <a:r>
              <a:t>Multi-Factor ML Priority Index (0–100 Scorer)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206240"/>
            <a:ext cx="5120640" cy="868680"/>
          </a:xfrm>
          <a:prstGeom prst="roundRect">
            <a:avLst/>
          </a:prstGeom>
          <a:solidFill>
            <a:srgbClr val="14161C"/>
          </a:solidFill>
          <a:ln w="12700">
            <a:solidFill>
              <a:srgbClr val="28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29768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3E635"/>
                </a:solidFill>
                <a:latin typeface="Arial"/>
              </a:defRPr>
            </a:pPr>
            <a:r>
              <a:t>ACT</a:t>
            </a:r>
          </a:p>
          <a:p>
            <a:pPr>
              <a:defRPr sz="1200">
                <a:solidFill>
                  <a:srgbClr val="FFFFFF"/>
                </a:solidFill>
                <a:latin typeface="Arial"/>
              </a:defRPr>
            </a:pPr>
            <a:r>
              <a:t>AI Project Directives, Budgets &amp; Policy Review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486400"/>
            <a:ext cx="10728655" cy="73152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A0A0E"/>
                </a:solidFill>
                <a:latin typeface="Arial"/>
              </a:defRPr>
            </a:pPr>
            <a:r>
              <a:t>Don’t just collect complaints. Identify emerging infrastructure needs.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A3E635"/>
                </a:solidFill>
                <a:latin typeface="Arial"/>
              </a:defRPr>
            </a:pPr>
            <a:r>
              <a:t>THE PLATFORM</a:t>
            </a:r>
          </a:p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One platform. Five capabilities.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383280" cy="2011680"/>
          </a:xfrm>
          <a:prstGeom prst="roundRect">
            <a:avLst/>
          </a:prstGeom>
          <a:solidFill>
            <a:srgbClr val="14161C"/>
          </a:solidFill>
          <a:ln w="12700">
            <a:solidFill>
              <a:srgbClr val="28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Arial"/>
              </a:defRPr>
            </a:pPr>
            <a:r>
              <a:t>01  Citizen Portal</a:t>
            </a:r>
          </a:p>
          <a:p>
            <a:pPr>
              <a:spcBef>
                <a:spcPts val="1200"/>
              </a:spcBef>
              <a:defRPr sz="1200">
                <a:solidFill>
                  <a:srgbClr val="A0A6B2"/>
                </a:solidFill>
                <a:latin typeface="Arial"/>
              </a:defRPr>
            </a:pPr>
            <a:r>
              <a:t>Voice + Text + Custom Location</a:t>
            </a:r>
            <a:br/>
            <a:r>
              <a:t>Interactive GPS detection &amp; BRICS country selector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828800"/>
            <a:ext cx="3383280" cy="2011680"/>
          </a:xfrm>
          <a:prstGeom prst="roundRect">
            <a:avLst/>
          </a:prstGeom>
          <a:solidFill>
            <a:srgbClr val="14161C"/>
          </a:solidFill>
          <a:ln w="12700">
            <a:solidFill>
              <a:srgbClr val="28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2024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Arial"/>
              </a:defRPr>
            </a:pPr>
            <a:r>
              <a:t>02  Multilingual AI</a:t>
            </a:r>
          </a:p>
          <a:p>
            <a:pPr>
              <a:spcBef>
                <a:spcPts val="1200"/>
              </a:spcBef>
              <a:defRPr sz="1200">
                <a:solidFill>
                  <a:srgbClr val="A0A6B2"/>
                </a:solidFill>
                <a:latin typeface="Arial"/>
              </a:defRPr>
            </a:pPr>
            <a:r>
              <a:t>Transcription + Translation</a:t>
            </a:r>
            <a:br/>
            <a:r>
              <a:t>Automatic dialect synthesis &amp; hazard classification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828800"/>
            <a:ext cx="3383280" cy="2011680"/>
          </a:xfrm>
          <a:prstGeom prst="roundRect">
            <a:avLst/>
          </a:prstGeom>
          <a:solidFill>
            <a:srgbClr val="14161C"/>
          </a:solidFill>
          <a:ln w="12700">
            <a:solidFill>
              <a:srgbClr val="28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92024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Arial"/>
              </a:defRPr>
            </a:pPr>
            <a:r>
              <a:t>03  Geo-Intelligence</a:t>
            </a:r>
          </a:p>
          <a:p>
            <a:pPr>
              <a:spcBef>
                <a:spcPts val="1200"/>
              </a:spcBef>
              <a:defRPr sz="1200">
                <a:solidFill>
                  <a:srgbClr val="A0A6B2"/>
                </a:solidFill>
                <a:latin typeface="Arial"/>
              </a:defRPr>
            </a:pPr>
            <a:r>
              <a:t>10km Proximity Clustering</a:t>
            </a:r>
            <a:br/>
            <a:r>
              <a:t>DBSCAN grouping of isolated infrastructure requests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5212080" cy="2011680"/>
          </a:xfrm>
          <a:prstGeom prst="roundRect">
            <a:avLst/>
          </a:prstGeom>
          <a:solidFill>
            <a:srgbClr val="14161C"/>
          </a:solidFill>
          <a:ln w="12700">
            <a:solidFill>
              <a:srgbClr val="28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29768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</a:defRPr>
            </a:pPr>
            <a:r>
              <a:t>04  Priority Engine</a:t>
            </a:r>
          </a:p>
          <a:p>
            <a:pPr>
              <a:spcBef>
                <a:spcPts val="1000"/>
              </a:spcBef>
              <a:defRPr sz="1300">
                <a:solidFill>
                  <a:srgbClr val="A0A6B2"/>
                </a:solidFill>
                <a:latin typeface="Arial"/>
              </a:defRPr>
            </a:pPr>
            <a:r>
              <a:t>Volume + Outage Duration + Sector Deficit + Disruption Intensity</a:t>
            </a:r>
            <a:br/>
            <a:r>
              <a:t>Calculates unified 0–100 ML severity ranking across sectors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114800"/>
            <a:ext cx="5212080" cy="2011680"/>
          </a:xfrm>
          <a:prstGeom prst="roundRect">
            <a:avLst/>
          </a:prstGeom>
          <a:solidFill>
            <a:srgbClr val="181E28"/>
          </a:solidFill>
          <a:ln w="12700">
            <a:solidFill>
              <a:srgbClr val="A3E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29768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A3E635"/>
                </a:solidFill>
                <a:latin typeface="Arial"/>
              </a:defRPr>
            </a:pPr>
            <a:r>
              <a:t>05  Policy Command Center</a:t>
            </a:r>
          </a:p>
          <a:p>
            <a:pPr>
              <a:spcBef>
                <a:spcPts val="10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Sector Health Matrix + Autonomous Radar + AI Directives</a:t>
            </a:r>
            <a:br/>
            <a:r>
              <a:t>Interactive radial dials, live threat sweep radar &amp; policy review briefs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A3E635"/>
                </a:solidFill>
                <a:latin typeface="Arial"/>
              </a:defRPr>
            </a:pPr>
            <a:r>
              <a:t>TECHNICAL CORE</a:t>
            </a:r>
          </a:p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The CivicPulse intelligence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645920" cy="1828800"/>
          </a:xfrm>
          <a:prstGeom prst="roundRect">
            <a:avLst/>
          </a:prstGeom>
          <a:solidFill>
            <a:srgbClr val="14161C"/>
          </a:solidFill>
          <a:ln w="12700">
            <a:solidFill>
              <a:srgbClr val="28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20240"/>
            <a:ext cx="13716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A3E635"/>
                </a:solidFill>
                <a:latin typeface="Arial"/>
              </a:defRPr>
            </a:pPr>
            <a:r>
              <a:t>01</a:t>
            </a:r>
          </a:p>
          <a:p>
            <a:pPr>
              <a:spcBef>
                <a:spcPts val="1400"/>
              </a:spcBef>
              <a:defRPr sz="1200" b="1">
                <a:solidFill>
                  <a:srgbClr val="FFFFFF"/>
                </a:solidFill>
                <a:latin typeface="Arial"/>
              </a:defRPr>
            </a:pPr>
            <a:r>
              <a:t>VOICE /</a:t>
            </a:r>
            <a:br/>
            <a:r>
              <a:t>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377440"/>
            <a:ext cx="731520" cy="18288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542032" y="1828800"/>
            <a:ext cx="1645920" cy="1828800"/>
          </a:xfrm>
          <a:prstGeom prst="roundRect">
            <a:avLst/>
          </a:prstGeom>
          <a:solidFill>
            <a:srgbClr val="14161C"/>
          </a:solidFill>
          <a:ln w="12700">
            <a:solidFill>
              <a:srgbClr val="28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79192" y="1920240"/>
            <a:ext cx="13716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A3E635"/>
                </a:solidFill>
                <a:latin typeface="Arial"/>
              </a:defRPr>
            </a:pPr>
            <a:r>
              <a:t>02</a:t>
            </a:r>
          </a:p>
          <a:p>
            <a:pPr>
              <a:spcBef>
                <a:spcPts val="1400"/>
              </a:spcBef>
              <a:defRPr sz="1200" b="1">
                <a:solidFill>
                  <a:srgbClr val="FFFFFF"/>
                </a:solidFill>
                <a:latin typeface="Arial"/>
              </a:defRPr>
            </a:pPr>
            <a:r>
              <a:t>GEMINI 2.5</a:t>
            </a:r>
            <a:br/>
            <a:r>
              <a:t>FLASH</a:t>
            </a:r>
          </a:p>
        </p:txBody>
      </p:sp>
      <p:sp>
        <p:nvSpPr>
          <p:cNvPr id="9" name="Rectangle 8"/>
          <p:cNvSpPr/>
          <p:nvPr/>
        </p:nvSpPr>
        <p:spPr>
          <a:xfrm>
            <a:off x="2679192" y="2377440"/>
            <a:ext cx="731520" cy="18288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52544" y="1828800"/>
            <a:ext cx="1645920" cy="1828800"/>
          </a:xfrm>
          <a:prstGeom prst="roundRect">
            <a:avLst/>
          </a:prstGeom>
          <a:solidFill>
            <a:srgbClr val="14161C"/>
          </a:solidFill>
          <a:ln w="12700">
            <a:solidFill>
              <a:srgbClr val="28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9704" y="1920240"/>
            <a:ext cx="13716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A3E635"/>
                </a:solidFill>
                <a:latin typeface="Arial"/>
              </a:defRPr>
            </a:pPr>
            <a:r>
              <a:t>03</a:t>
            </a:r>
          </a:p>
          <a:p>
            <a:pPr>
              <a:spcBef>
                <a:spcPts val="1400"/>
              </a:spcBef>
              <a:defRPr sz="1200" b="1">
                <a:solidFill>
                  <a:srgbClr val="FFFFFF"/>
                </a:solidFill>
                <a:latin typeface="Arial"/>
              </a:defRPr>
            </a:pPr>
            <a:r>
              <a:t>0–100 ML</a:t>
            </a:r>
            <a:br/>
            <a:r>
              <a:t>SEVERITY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9704" y="2377440"/>
            <a:ext cx="731520" cy="18288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63056" y="1828800"/>
            <a:ext cx="1645920" cy="1828800"/>
          </a:xfrm>
          <a:prstGeom prst="roundRect">
            <a:avLst/>
          </a:prstGeom>
          <a:solidFill>
            <a:srgbClr val="14161C"/>
          </a:solidFill>
          <a:ln w="12700">
            <a:solidFill>
              <a:srgbClr val="28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0216" y="1920240"/>
            <a:ext cx="13716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A3E635"/>
                </a:solidFill>
                <a:latin typeface="Arial"/>
              </a:defRPr>
            </a:pPr>
            <a:r>
              <a:t>04</a:t>
            </a:r>
          </a:p>
          <a:p>
            <a:pPr>
              <a:spcBef>
                <a:spcPts val="1400"/>
              </a:spcBef>
              <a:defRPr sz="1200" b="1">
                <a:solidFill>
                  <a:srgbClr val="FFFFFF"/>
                </a:solidFill>
                <a:latin typeface="Arial"/>
              </a:defRPr>
            </a:pPr>
            <a:r>
              <a:t>10KM</a:t>
            </a:r>
            <a:br/>
            <a:r>
              <a:t>DBSCAN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216" y="2377440"/>
            <a:ext cx="731520" cy="18288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973568" y="1828800"/>
            <a:ext cx="1645920" cy="1828800"/>
          </a:xfrm>
          <a:prstGeom prst="roundRect">
            <a:avLst/>
          </a:prstGeom>
          <a:solidFill>
            <a:srgbClr val="14161C"/>
          </a:solidFill>
          <a:ln w="12700">
            <a:solidFill>
              <a:srgbClr val="28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0728" y="1920240"/>
            <a:ext cx="13716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A3E635"/>
                </a:solidFill>
                <a:latin typeface="Arial"/>
              </a:defRPr>
            </a:pPr>
            <a:r>
              <a:t>05</a:t>
            </a:r>
          </a:p>
          <a:p>
            <a:pPr>
              <a:spcBef>
                <a:spcPts val="1400"/>
              </a:spcBef>
              <a:defRPr sz="1200" b="1">
                <a:solidFill>
                  <a:srgbClr val="FFFFFF"/>
                </a:solidFill>
                <a:latin typeface="Arial"/>
              </a:defRPr>
            </a:pPr>
            <a:r>
              <a:t>PRIORITY</a:t>
            </a:r>
            <a:br/>
            <a:r>
              <a:t>INDEX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0728" y="2377440"/>
            <a:ext cx="731520" cy="18288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784080" y="1828800"/>
            <a:ext cx="1645920" cy="1828800"/>
          </a:xfrm>
          <a:prstGeom prst="roundRect">
            <a:avLst/>
          </a:prstGeom>
          <a:solidFill>
            <a:srgbClr val="A3E635"/>
          </a:solidFill>
          <a:ln w="12700">
            <a:solidFill>
              <a:srgbClr val="A3E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21240" y="1920240"/>
            <a:ext cx="137160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A0A0E"/>
                </a:solidFill>
                <a:latin typeface="Arial"/>
              </a:defRPr>
            </a:pPr>
            <a:r>
              <a:t>06</a:t>
            </a:r>
          </a:p>
          <a:p>
            <a:pPr>
              <a:spcBef>
                <a:spcPts val="1400"/>
              </a:spcBef>
              <a:defRPr sz="1200" b="1">
                <a:solidFill>
                  <a:srgbClr val="0A0A0E"/>
                </a:solidFill>
                <a:latin typeface="Arial"/>
              </a:defRPr>
            </a:pPr>
            <a:r>
              <a:t>AI POLICY</a:t>
            </a:r>
            <a:br/>
            <a:r>
              <a:t>BRIEF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023360"/>
            <a:ext cx="10728655" cy="2103120"/>
          </a:xfrm>
          <a:prstGeom prst="roundRect">
            <a:avLst/>
          </a:prstGeom>
          <a:solidFill>
            <a:srgbClr val="14161C"/>
          </a:solidFill>
          <a:ln w="12700">
            <a:solidFill>
              <a:srgbClr val="28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206240"/>
            <a:ext cx="10149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Arial"/>
              </a:defRPr>
            </a:pPr>
            <a:r>
              <a:t>Transcribe  ·  Translate  ·  Categorize  ·  0–100 Multi-Factor Severity Scorer  ·  Geospatial Clustering  ·  Sector Health Deficit</a:t>
            </a:r>
          </a:p>
          <a:p>
            <a:pPr>
              <a:spcBef>
                <a:spcPts val="1200"/>
              </a:spcBef>
              <a:defRPr sz="1200" b="1">
                <a:solidFill>
                  <a:srgbClr val="A3E635"/>
                </a:solidFill>
                <a:latin typeface="Arial"/>
              </a:defRPr>
            </a:pPr>
            <a:r>
              <a:t>TECHNICAL CORE</a:t>
            </a:r>
          </a:p>
          <a:p>
            <a:pPr>
              <a:spcBef>
                <a:spcPts val="400"/>
              </a:spcBef>
              <a:defRPr sz="1400">
                <a:solidFill>
                  <a:srgbClr val="A0A6B2"/>
                </a:solidFill>
                <a:latin typeface="Arial"/>
              </a:defRPr>
            </a:pPr>
            <a:r>
              <a:t>Gemini 2.5 Flash API  +  Scikit-Learn DBSCAN  +  Haversine Matrix  +  Zero-Setup SQLite / PostgreSQL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A3E635"/>
                </a:solidFill>
                <a:latin typeface="Arial"/>
              </a:defRPr>
            </a:pPr>
            <a:r>
              <a:t>DECISION SURFACE</a:t>
            </a:r>
          </a:p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From data to decision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383280" cy="2011680"/>
          </a:xfrm>
          <a:prstGeom prst="roundRect">
            <a:avLst/>
          </a:prstGeom>
          <a:solidFill>
            <a:srgbClr val="14161C"/>
          </a:solidFill>
          <a:ln w="12700">
            <a:solidFill>
              <a:srgbClr val="28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A3E635"/>
                </a:solidFill>
                <a:latin typeface="Arial"/>
              </a:defRPr>
            </a:pPr>
            <a:r>
              <a:t>SECTOR MATRIX &amp; RADAR</a:t>
            </a:r>
          </a:p>
          <a:p>
            <a:pPr>
              <a:spcBef>
                <a:spcPts val="12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Real-time radial gauges for Water, Roads, Power, Sanitation &amp; autonomous threat radar sweep.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828800"/>
            <a:ext cx="3383280" cy="2011680"/>
          </a:xfrm>
          <a:prstGeom prst="roundRect">
            <a:avLst/>
          </a:prstGeom>
          <a:solidFill>
            <a:srgbClr val="14161C"/>
          </a:solidFill>
          <a:ln w="12700">
            <a:solidFill>
              <a:srgbClr val="28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2024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A3E635"/>
                </a:solidFill>
                <a:latin typeface="Arial"/>
              </a:defRPr>
            </a:pPr>
            <a:r>
              <a:t>LIVE FEED &amp; TELEMETRY</a:t>
            </a:r>
          </a:p>
          <a:p>
            <a:pPr>
              <a:spcBef>
                <a:spcPts val="12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Anonymized, AI-translated citizen requests with live institutional status tickers.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828800"/>
            <a:ext cx="3383280" cy="2011680"/>
          </a:xfrm>
          <a:prstGeom prst="roundRect">
            <a:avLst/>
          </a:prstGeom>
          <a:solidFill>
            <a:srgbClr val="14161C"/>
          </a:solidFill>
          <a:ln w="12700">
            <a:solidFill>
              <a:srgbClr val="28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92024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A3E635"/>
                </a:solidFill>
                <a:latin typeface="Arial"/>
              </a:defRPr>
            </a:pPr>
            <a:r>
              <a:t>AI POLICY DIRECTIVES</a:t>
            </a:r>
          </a:p>
          <a:p>
            <a:pPr>
              <a:spcBef>
                <a:spcPts val="12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Autonomous project solutions with actionable budgets, timelines, and policy review citations.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297680"/>
            <a:ext cx="2468880" cy="1737360"/>
          </a:xfrm>
          <a:prstGeom prst="roundRect">
            <a:avLst/>
          </a:prstGeom>
          <a:solidFill>
            <a:srgbClr val="14161C"/>
          </a:solidFill>
          <a:ln w="12700">
            <a:solidFill>
              <a:srgbClr val="28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389120"/>
            <a:ext cx="21031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A3E635"/>
                </a:solidFill>
                <a:latin typeface="Arial"/>
              </a:defRPr>
            </a:pPr>
            <a:r>
              <a:t>1</a:t>
            </a:r>
          </a:p>
          <a:p>
            <a:pPr algn="ctr">
              <a:spcBef>
                <a:spcPts val="800"/>
              </a:spcBef>
              <a:defRPr sz="1300" b="1">
                <a:solidFill>
                  <a:srgbClr val="FFFFFF"/>
                </a:solidFill>
                <a:latin typeface="Arial"/>
              </a:defRPr>
            </a:pPr>
            <a:r>
              <a:t>50 Citizen Reports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4297680"/>
            <a:ext cx="2468880" cy="1737360"/>
          </a:xfrm>
          <a:prstGeom prst="roundRect">
            <a:avLst/>
          </a:prstGeom>
          <a:solidFill>
            <a:srgbClr val="14161C"/>
          </a:solidFill>
          <a:ln w="12700">
            <a:solidFill>
              <a:srgbClr val="28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4389120"/>
            <a:ext cx="21031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A3E635"/>
                </a:solidFill>
                <a:latin typeface="Arial"/>
              </a:defRPr>
            </a:pPr>
            <a:r>
              <a:t>2</a:t>
            </a:r>
          </a:p>
          <a:p>
            <a:pPr algn="ctr">
              <a:spcBef>
                <a:spcPts val="800"/>
              </a:spcBef>
              <a:defRPr sz="1300" b="1">
                <a:solidFill>
                  <a:srgbClr val="FFFFFF"/>
                </a:solidFill>
                <a:latin typeface="Arial"/>
              </a:defRPr>
            </a:pPr>
            <a:r>
              <a:t>1 Geographic Hotspot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297680"/>
            <a:ext cx="2468880" cy="1737360"/>
          </a:xfrm>
          <a:prstGeom prst="roundRect">
            <a:avLst/>
          </a:prstGeom>
          <a:solidFill>
            <a:srgbClr val="14161C"/>
          </a:solidFill>
          <a:ln w="12700">
            <a:solidFill>
              <a:srgbClr val="28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389120"/>
            <a:ext cx="21031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A3E635"/>
                </a:solidFill>
                <a:latin typeface="Arial"/>
              </a:defRPr>
            </a:pPr>
            <a:r>
              <a:t>3</a:t>
            </a:r>
          </a:p>
          <a:p>
            <a:pPr algn="ctr">
              <a:spcBef>
                <a:spcPts val="800"/>
              </a:spcBef>
              <a:defRPr sz="1300" b="1">
                <a:solidFill>
                  <a:srgbClr val="FFFFFF"/>
                </a:solidFill>
                <a:latin typeface="Arial"/>
              </a:defRPr>
            </a:pPr>
            <a:r>
              <a:t>1 Priority Project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4297680"/>
            <a:ext cx="2468880" cy="1737360"/>
          </a:xfrm>
          <a:prstGeom prst="roundRect">
            <a:avLst/>
          </a:prstGeom>
          <a:solidFill>
            <a:srgbClr val="A3E635"/>
          </a:solidFill>
          <a:ln w="12700">
            <a:solidFill>
              <a:srgbClr val="A3E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4389120"/>
            <a:ext cx="21031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0A0A0E"/>
                </a:solidFill>
                <a:latin typeface="Arial"/>
              </a:defRPr>
            </a:pPr>
            <a:r>
              <a:t>4</a:t>
            </a:r>
          </a:p>
          <a:p>
            <a:pPr algn="ctr">
              <a:spcBef>
                <a:spcPts val="800"/>
              </a:spcBef>
              <a:defRPr sz="1300" b="1">
                <a:solidFill>
                  <a:srgbClr val="0A0A0E"/>
                </a:solidFill>
                <a:latin typeface="Arial"/>
              </a:defRPr>
            </a:pPr>
            <a:r>
              <a:t>Policy Action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A3E635"/>
                </a:solidFill>
                <a:latin typeface="Arial"/>
              </a:defRPr>
            </a:pPr>
            <a:r>
              <a:t>SYSTEM DESIGN</a:t>
            </a:r>
          </a:p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Simple, scalable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383280" cy="1645920"/>
          </a:xfrm>
          <a:prstGeom prst="roundRect">
            <a:avLst/>
          </a:prstGeom>
          <a:solidFill>
            <a:srgbClr val="14161C"/>
          </a:solidFill>
          <a:ln w="12700">
            <a:solidFill>
              <a:srgbClr val="28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6596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A3E635"/>
                </a:solidFill>
                <a:latin typeface="Arial"/>
              </a:defRPr>
            </a:pPr>
            <a:r>
              <a:t>INPUT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  <a:latin typeface="Arial"/>
              </a:defRPr>
            </a:pPr>
            <a:r>
              <a:t>Citizen Portal · Voice | Text | Custom Location | BRICS Nation Selector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828800"/>
            <a:ext cx="3383280" cy="1645920"/>
          </a:xfrm>
          <a:prstGeom prst="roundRect">
            <a:avLst/>
          </a:prstGeom>
          <a:solidFill>
            <a:srgbClr val="14161C"/>
          </a:solidFill>
          <a:ln w="12700">
            <a:solidFill>
              <a:srgbClr val="28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96596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A3E635"/>
                </a:solidFill>
                <a:latin typeface="Arial"/>
              </a:defRPr>
            </a:pPr>
            <a:r>
              <a:t>API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  <a:latin typeface="Arial"/>
              </a:defRPr>
            </a:pPr>
            <a:r>
              <a:t>FastAPI (Async Python 3.11 Backend) + Next.js 14 App Router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828800"/>
            <a:ext cx="3383280" cy="1645920"/>
          </a:xfrm>
          <a:prstGeom prst="roundRect">
            <a:avLst/>
          </a:prstGeom>
          <a:solidFill>
            <a:srgbClr val="14161C"/>
          </a:solidFill>
          <a:ln w="12700">
            <a:solidFill>
              <a:srgbClr val="28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96596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A3E635"/>
                </a:solidFill>
                <a:latin typeface="Arial"/>
              </a:defRPr>
            </a:pPr>
            <a:r>
              <a:t>AI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  <a:latin typeface="Arial"/>
              </a:defRPr>
            </a:pPr>
            <a:r>
              <a:t>Gemini 2.5 Flash · Multilingual NLU &amp; Generative Project Solutions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57600"/>
            <a:ext cx="3383280" cy="1645920"/>
          </a:xfrm>
          <a:prstGeom prst="roundRect">
            <a:avLst/>
          </a:prstGeom>
          <a:solidFill>
            <a:srgbClr val="14161C"/>
          </a:solidFill>
          <a:ln w="12700">
            <a:solidFill>
              <a:srgbClr val="28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A3E635"/>
                </a:solidFill>
                <a:latin typeface="Arial"/>
              </a:defRPr>
            </a:pPr>
            <a:r>
              <a:t>DATA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  <a:latin typeface="Arial"/>
              </a:defRPr>
            </a:pPr>
            <a:r>
              <a:t>SQLite (Zero-Setup Engine) / PostgreSQL + PostGIS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3657600"/>
            <a:ext cx="3383280" cy="1645920"/>
          </a:xfrm>
          <a:prstGeom prst="roundRect">
            <a:avLst/>
          </a:prstGeom>
          <a:solidFill>
            <a:srgbClr val="14161C"/>
          </a:solidFill>
          <a:ln w="12700">
            <a:solidFill>
              <a:srgbClr val="28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379476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A3E635"/>
                </a:solidFill>
                <a:latin typeface="Arial"/>
              </a:defRPr>
            </a:pPr>
            <a:r>
              <a:t>INTELLIGENCE</a:t>
            </a:r>
          </a:p>
          <a:p>
            <a:pPr>
              <a:spcBef>
                <a:spcPts val="800"/>
              </a:spcBef>
              <a:defRPr sz="1200">
                <a:solidFill>
                  <a:srgbClr val="FFFFFF"/>
                </a:solidFill>
                <a:latin typeface="Arial"/>
              </a:defRPr>
            </a:pPr>
            <a:r>
              <a:t>Scikit-Learn DBSCAN (10km Proximity) + 0–100 ML Severity Scorer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657600"/>
            <a:ext cx="3383280" cy="1645920"/>
          </a:xfrm>
          <a:prstGeom prst="roundRect">
            <a:avLst/>
          </a:prstGeom>
          <a:solidFill>
            <a:srgbClr val="A3E635"/>
          </a:solidFill>
          <a:ln w="12700">
            <a:solidFill>
              <a:srgbClr val="A3E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379476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A0A0E"/>
                </a:solidFill>
                <a:latin typeface="Arial"/>
              </a:defRPr>
            </a:pPr>
            <a:r>
              <a:t>OUTPUT</a:t>
            </a:r>
          </a:p>
          <a:p>
            <a:pPr>
              <a:spcBef>
                <a:spcPts val="800"/>
              </a:spcBef>
              <a:defRPr sz="1200">
                <a:solidFill>
                  <a:srgbClr val="0A0A0E"/>
                </a:solidFill>
                <a:latin typeface="Arial"/>
              </a:defRPr>
            </a:pPr>
            <a:r>
              <a:t>Policymaker Command Center · Sector Health Matrix &amp; Autonomous Radar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6928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A0A6B2"/>
                </a:solidFill>
                <a:latin typeface="Arial"/>
              </a:defRPr>
            </a:pPr>
            <a:r>
              <a:t>Supporting technologies:  Tailwind CSS  ·  Lucide Icons  ·  HTML5 Canvas Radar  ·  Interactive SVG Dials  ·  REST APIs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A3E635"/>
                </a:solidFill>
                <a:latin typeface="Arial"/>
              </a:defRPr>
            </a:pPr>
            <a:r>
              <a:t>PRODUCTION-READY BY DESIGN</a:t>
            </a:r>
          </a:p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Built for real-world civic systems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2468880" cy="2743200"/>
          </a:xfrm>
          <a:prstGeom prst="roundRect">
            <a:avLst/>
          </a:prstGeom>
          <a:solidFill>
            <a:srgbClr val="14161C"/>
          </a:solidFill>
          <a:ln w="12700">
            <a:solidFill>
              <a:srgbClr val="28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2103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A3E635"/>
                </a:solidFill>
                <a:latin typeface="Arial"/>
              </a:defRPr>
            </a:pPr>
            <a:r>
              <a:t>PRIVACY</a:t>
            </a:r>
          </a:p>
          <a:p>
            <a:pPr>
              <a:spcBef>
                <a:spcPts val="14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PII sanitization &amp; anonymization before persistence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828800"/>
            <a:ext cx="2468880" cy="2743200"/>
          </a:xfrm>
          <a:prstGeom prst="roundRect">
            <a:avLst/>
          </a:prstGeom>
          <a:solidFill>
            <a:srgbClr val="14161C"/>
          </a:solidFill>
          <a:ln w="12700">
            <a:solidFill>
              <a:srgbClr val="28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0" y="2011680"/>
            <a:ext cx="2103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A3E635"/>
                </a:solidFill>
                <a:latin typeface="Arial"/>
              </a:defRPr>
            </a:pPr>
            <a:r>
              <a:t>SECURITY</a:t>
            </a:r>
          </a:p>
          <a:p>
            <a:pPr>
              <a:spcBef>
                <a:spcPts val="14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JWT + HTTP-only cookies &amp; input schema validation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2468880" cy="2743200"/>
          </a:xfrm>
          <a:prstGeom prst="roundRect">
            <a:avLst/>
          </a:prstGeom>
          <a:solidFill>
            <a:srgbClr val="14161C"/>
          </a:solidFill>
          <a:ln w="12700">
            <a:solidFill>
              <a:srgbClr val="28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2103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A3E635"/>
                </a:solidFill>
                <a:latin typeface="Arial"/>
              </a:defRPr>
            </a:pPr>
            <a:r>
              <a:t>ACCESS CONTROL</a:t>
            </a:r>
          </a:p>
          <a:p>
            <a:pPr>
              <a:spcBef>
                <a:spcPts val="14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RBAC: SuperAdmin | Policymaker | Analyst | Citizen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828800"/>
            <a:ext cx="2468880" cy="2743200"/>
          </a:xfrm>
          <a:prstGeom prst="roundRect">
            <a:avLst/>
          </a:prstGeom>
          <a:solidFill>
            <a:srgbClr val="14161C"/>
          </a:solidFill>
          <a:ln w="12700">
            <a:solidFill>
              <a:srgbClr val="28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2011680"/>
            <a:ext cx="2103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A3E635"/>
                </a:solidFill>
                <a:latin typeface="Arial"/>
              </a:defRPr>
            </a:pPr>
            <a:r>
              <a:t>SCALABILITY</a:t>
            </a:r>
          </a:p>
          <a:p>
            <a:pPr>
              <a:spcBef>
                <a:spcPts val="14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Local ward → Regional → National → BRICS-scale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5029200"/>
            <a:ext cx="10728655" cy="100584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A0A0E"/>
                </a:solidFill>
                <a:latin typeface="Arial"/>
              </a:defRPr>
            </a:pPr>
            <a:r>
              <a:t>SUCCESS METRICS</a:t>
            </a:r>
          </a:p>
          <a:p>
            <a:pPr algn="ctr">
              <a:spcBef>
                <a:spcPts val="400"/>
              </a:spcBef>
              <a:defRPr sz="1500" b="1">
                <a:solidFill>
                  <a:srgbClr val="0A0A0E"/>
                </a:solidFill>
                <a:latin typeface="Arial"/>
              </a:defRPr>
            </a:pPr>
            <a:r>
              <a:t>Processing Time  ·  Cluster Quality  ·  Multi-Factor ML Accuracy  ·  PII Removal Effectiveness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A3E635"/>
                </a:solidFill>
                <a:latin typeface="Arial"/>
              </a:defRPr>
            </a:pPr>
            <a:r>
              <a:t>THE END-TO-END PROMISE</a:t>
            </a:r>
          </a:p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One report → one actionable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1.  Citizen Voice &amp; Text Report</a:t>
            </a:r>
          </a:p>
          <a:p>
            <a:pPr>
              <a:spcBef>
                <a:spcPts val="800"/>
              </a:spcBef>
              <a:defRPr sz="1300" b="1">
                <a:solidFill>
                  <a:srgbClr val="FFFFFF"/>
                </a:solidFill>
                <a:latin typeface="Arial"/>
              </a:defRPr>
            </a:pPr>
            <a:r>
              <a:t>2.  AI Multilingual Audio Synthesis</a:t>
            </a:r>
          </a:p>
          <a:p>
            <a:pPr>
              <a:spcBef>
                <a:spcPts val="800"/>
              </a:spcBef>
              <a:defRPr sz="1300" b="1">
                <a:solidFill>
                  <a:srgbClr val="FFFFFF"/>
                </a:solidFill>
                <a:latin typeface="Arial"/>
              </a:defRPr>
            </a:pPr>
            <a:r>
              <a:t>3.  Automatic Translation &amp; Hazard Tagging</a:t>
            </a:r>
          </a:p>
          <a:p>
            <a:pPr>
              <a:spcBef>
                <a:spcPts val="800"/>
              </a:spcBef>
              <a:defRPr sz="1300" b="1">
                <a:solidFill>
                  <a:srgbClr val="FFFFFF"/>
                </a:solidFill>
                <a:latin typeface="Arial"/>
              </a:defRPr>
            </a:pPr>
            <a:r>
              <a:t>4.  PII Sanitization &amp; Anonymization</a:t>
            </a:r>
          </a:p>
          <a:p>
            <a:pPr>
              <a:spcBef>
                <a:spcPts val="800"/>
              </a:spcBef>
              <a:defRPr sz="1300" b="1">
                <a:solidFill>
                  <a:srgbClr val="FFFFFF"/>
                </a:solidFill>
                <a:latin typeface="Arial"/>
              </a:defRPr>
            </a:pPr>
            <a:r>
              <a:t>5.  Geospatial Clustering (10km DBSCAN)</a:t>
            </a:r>
          </a:p>
          <a:p>
            <a:pPr>
              <a:spcBef>
                <a:spcPts val="800"/>
              </a:spcBef>
              <a:defRPr sz="1300" b="1">
                <a:solidFill>
                  <a:srgbClr val="FFFFFF"/>
                </a:solidFill>
                <a:latin typeface="Arial"/>
              </a:defRPr>
            </a:pPr>
            <a:r>
              <a:t>6.  0–100 Multi-Factor ML Severity Scoring</a:t>
            </a:r>
          </a:p>
          <a:p>
            <a:pPr>
              <a:spcBef>
                <a:spcPts val="800"/>
              </a:spcBef>
              <a:defRPr sz="1300" b="1">
                <a:solidFill>
                  <a:srgbClr val="FFFFFF"/>
                </a:solidFill>
                <a:latin typeface="Arial"/>
              </a:defRPr>
            </a:pPr>
            <a:r>
              <a:t>7.  AI Project Recommendation with Budget</a:t>
            </a:r>
          </a:p>
          <a:p>
            <a:pPr>
              <a:spcBef>
                <a:spcPts val="800"/>
              </a:spcBef>
              <a:defRPr sz="1300" b="1">
                <a:solidFill>
                  <a:srgbClr val="FFFFFF"/>
                </a:solidFill>
                <a:latin typeface="Arial"/>
              </a:defRPr>
            </a:pPr>
            <a:r>
              <a:t>8.  Sector Health Matrix &amp; Policy Action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2011680"/>
          </a:xfrm>
          <a:prstGeom prst="roundRect">
            <a:avLst/>
          </a:prstGeom>
          <a:solidFill>
            <a:srgbClr val="14161C"/>
          </a:solidFill>
          <a:ln w="12700">
            <a:solidFill>
              <a:srgbClr val="282D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8288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A3E635"/>
                </a:solidFill>
                <a:latin typeface="Arial"/>
              </a:defRPr>
            </a:pPr>
            <a:r>
              <a:t>REAL-WORLD EXAMPLE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  <a:latin typeface="Arial"/>
              </a:defRPr>
            </a:pPr>
            <a:r>
              <a:t>“Pipeline rupture reported in Ward 4”</a:t>
            </a:r>
            <a:br/>
            <a:r>
              <a:t>→ Hotspot detected (10km DBSCAN)</a:t>
            </a:r>
            <a:br/>
            <a:r>
              <a:t>→ ML Severity 88/100 (Critical Hazard)</a:t>
            </a:r>
            <a:br/>
            <a:r>
              <a:t>→ Project Brief auto-drafted with $85,000 budget &amp; 4-day timeline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931920"/>
            <a:ext cx="52120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A3E635"/>
                </a:solidFill>
                <a:latin typeface="Arial"/>
              </a:defRPr>
            </a:pPr>
            <a:r>
              <a:t>CIVICPULSE BRICS</a:t>
            </a:r>
          </a:p>
          <a:p>
            <a:pPr>
              <a:spcBef>
                <a:spcPts val="600"/>
              </a:spcBef>
              <a:defRPr sz="1400" i="1">
                <a:solidFill>
                  <a:srgbClr val="FFFFFF"/>
                </a:solidFill>
                <a:latin typeface="Arial"/>
              </a:defRPr>
            </a:pPr>
            <a:r>
              <a:t>“Turning Citizen Voices into Actionable Infrastructure Intelligence.”</a:t>
            </a:r>
          </a:p>
          <a:p>
            <a:pPr>
              <a:spcBef>
                <a:spcPts val="800"/>
              </a:spcBef>
              <a:defRPr sz="1100">
                <a:solidFill>
                  <a:srgbClr val="A0A6B2"/>
                </a:solidFill>
                <a:latin typeface="Arial"/>
              </a:defRPr>
            </a:pPr>
            <a:r>
              <a:t>Build with AI: Code for Communities — Second Edition</a:t>
            </a:r>
            <a:br/>
            <a:r>
              <a:t>Multilingual AI · Geospatial Intelligence · Digital Public Goods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