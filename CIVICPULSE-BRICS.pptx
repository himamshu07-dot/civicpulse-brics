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1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Arial"/>
              </a:defRPr>
            </a:pPr>
            <a:r>
              <a:t>BUILD WITH AI · CODE FOR COMMUNITIES — SECOND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858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CIVICPULSE</a:t>
            </a:r>
            <a:br/>
            <a:r>
              <a:t>BRICS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Scalable AI-Driven Infrastructure Prioritization for Digital Public Goods</a:t>
            </a:r>
          </a:p>
          <a:p>
            <a:pPr>
              <a:defRPr sz="1400" i="1">
                <a:solidFill>
                  <a:srgbClr val="A0A6B2"/>
                </a:solidFill>
                <a:latin typeface="Arial"/>
              </a:defRPr>
            </a:pPr>
            <a:r>
              <a:t>“From Citizen Voices to Actionable Infrastructure Intelligence.”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108960"/>
            <a:ext cx="3840480" cy="2926080"/>
          </a:xfrm>
          <a:prstGeom prst="roundRect">
            <a:avLst/>
          </a:prstGeom>
          <a:solidFill>
            <a:srgbClr val="10141A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3291840"/>
            <a:ext cx="2560320" cy="411480"/>
          </a:xfrm>
          <a:prstGeom prst="roundRect">
            <a:avLst/>
          </a:prstGeom>
          <a:solidFill>
            <a:srgbClr val="233714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3E635"/>
                </a:solidFill>
                <a:latin typeface="Arial"/>
              </a:defRPr>
            </a:pPr>
            <a:r>
              <a:t>TRACK: OPEN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840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6B2"/>
                </a:solidFill>
                <a:latin typeface="Arial"/>
              </a:defRPr>
            </a:pPr>
            <a:r>
              <a:t>Team: [Team Name]  ·  Members: [Names + Roles]</a:t>
            </a:r>
          </a:p>
          <a:p>
            <a:pPr>
              <a:spcBef>
                <a:spcPts val="2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CITIZENS  →  AI  →  SECTOR HEALTH MATRIX &amp; TELEMETRY  →  POLICYMAKERS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663440"/>
            <a:ext cx="1828800" cy="36576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Fragmented citizen voices delay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Arial"/>
              </a:defRPr>
            </a:pPr>
            <a:r>
              <a:t>TODAY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 Voice, text, and messaging feedback is scattered across multiple channels.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 Reports arrive in different languages and regional dialects.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 Unstructured reports are difficult to analyze and deduplicate at scale.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 Critical infrastructure hotspots stay hard to detect before catastrophic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1.  Citizen Reports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2.  Data Silos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3.  Limited Visibility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4.  Delayed Prioritization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0A6B2"/>
                </a:solidFill>
                <a:latin typeface="Arial"/>
              </a:defRPr>
            </a:pPr>
            <a:r>
              <a:t>CORE GAP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Citizen feedback exists.</a:t>
            </a:r>
          </a:p>
          <a:p>
            <a:pPr>
              <a:spcBef>
                <a:spcPts val="400"/>
              </a:spcBef>
              <a:defRPr sz="2000" b="1">
                <a:solidFill>
                  <a:srgbClr val="EF4444"/>
                </a:solidFill>
                <a:latin typeface="Arial"/>
              </a:defRPr>
            </a:pPr>
            <a:r>
              <a:t>Actionable intelligence doesn’t.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rial"/>
              </a:defRPr>
            </a:pPr>
            <a:r>
              <a:t>THE SOLUTION</a:t>
            </a:r>
          </a:p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From feedback to action</a:t>
            </a:r>
          </a:p>
          <a:p>
            <a:pPr>
              <a:spcBef>
                <a:spcPts val="400"/>
              </a:spcBef>
              <a:defRPr sz="1400">
                <a:solidFill>
                  <a:srgbClr val="A0A6B2"/>
                </a:solidFill>
                <a:latin typeface="Arial"/>
              </a:defRPr>
            </a:pPr>
            <a:r>
              <a:t>CivicPulse BRICS turns citizen reports into geospatially prioritized infrastructure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868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Arial"/>
              </a:defRPr>
            </a:pPr>
            <a:r>
              <a:t>REPORT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Voice / Text / Custom Location &amp; Auto-GPS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120640" cy="868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Arial"/>
              </a:defRPr>
            </a:pPr>
            <a:r>
              <a:t>UNDERSTAND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AI Transcription + Multilingual Translation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120640" cy="868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Arial"/>
              </a:defRPr>
            </a:pPr>
            <a:r>
              <a:t>CLUSTER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Geospatial Proximity Hotspots (10km DBSCAN)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5120640" cy="868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Arial"/>
              </a:defRPr>
            </a:pPr>
            <a:r>
              <a:t>PRIORITIZE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Multi-Factor ML Priority Index (0–100 Scorer)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868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Arial"/>
              </a:defRPr>
            </a:pPr>
            <a:r>
              <a:t>ACT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AI Project Directives, Budgets &amp; Policy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E"/>
                </a:solidFill>
                <a:latin typeface="Arial"/>
              </a:defRPr>
            </a:pPr>
            <a:r>
              <a:t>Don’t just collect complaints. Identify emerging infrastructure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rial"/>
              </a:defRPr>
            </a:pPr>
            <a:r>
              <a:t>THE PLATFORM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One platform. Five capabilities.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01  Citizen Portal</a:t>
            </a:r>
          </a:p>
          <a:p>
            <a:pPr>
              <a:spcBef>
                <a:spcPts val="1200"/>
              </a:spcBef>
              <a:defRPr sz="1200">
                <a:solidFill>
                  <a:srgbClr val="A0A6B2"/>
                </a:solidFill>
                <a:latin typeface="Arial"/>
              </a:defRPr>
            </a:pPr>
            <a:r>
              <a:t>Voice + Text + Custom Location</a:t>
            </a:r>
            <a:br/>
            <a:r>
              <a:t>Interactive GPS detection &amp; BRICS country selector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02  Multilingual AI</a:t>
            </a:r>
          </a:p>
          <a:p>
            <a:pPr>
              <a:spcBef>
                <a:spcPts val="1200"/>
              </a:spcBef>
              <a:defRPr sz="1200">
                <a:solidFill>
                  <a:srgbClr val="A0A6B2"/>
                </a:solidFill>
                <a:latin typeface="Arial"/>
              </a:defRPr>
            </a:pPr>
            <a:r>
              <a:t>Transcription + Translation</a:t>
            </a:r>
            <a:br/>
            <a:r>
              <a:t>Automatic dialect synthesis &amp; hazard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03  Geo-Intelligence</a:t>
            </a:r>
          </a:p>
          <a:p>
            <a:pPr>
              <a:spcBef>
                <a:spcPts val="1200"/>
              </a:spcBef>
              <a:defRPr sz="1200">
                <a:solidFill>
                  <a:srgbClr val="A0A6B2"/>
                </a:solidFill>
                <a:latin typeface="Arial"/>
              </a:defRPr>
            </a:pPr>
            <a:r>
              <a:t>10km Proximity Clustering</a:t>
            </a:r>
            <a:br/>
            <a:r>
              <a:t>DBSCAN grouping of isolated infrastructure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04  Priority Engine</a:t>
            </a:r>
          </a:p>
          <a:p>
            <a:pPr>
              <a:spcBef>
                <a:spcPts val="1000"/>
              </a:spcBef>
              <a:defRPr sz="1300">
                <a:solidFill>
                  <a:srgbClr val="A0A6B2"/>
                </a:solidFill>
                <a:latin typeface="Arial"/>
              </a:defRPr>
            </a:pPr>
            <a:r>
              <a:t>Volume + Outage Duration + Sector Deficit + Disruption Intensity</a:t>
            </a:r>
            <a:br/>
            <a:r>
              <a:t>Calculates unified 0–100 ML severity ranking across sectors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81E28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rial"/>
              </a:defRPr>
            </a:pPr>
            <a:r>
              <a:t>05  Policy Command Center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Sector Health Matrix + Autonomous Radar + AI Directives</a:t>
            </a:r>
            <a:br/>
            <a:r>
              <a:t>Interactive radial dials, live threat sweep radar &amp; policy review briefs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rial"/>
              </a:defRPr>
            </a:pPr>
            <a:r>
              <a:t>TECHNICAL CORE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CivicPulse intelligence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18288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371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1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VOICE /</a:t>
            </a:r>
            <a:br/>
            <a:r>
              <a:t>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377440"/>
            <a:ext cx="731520" cy="1828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42032" y="1828800"/>
            <a:ext cx="1645920" cy="18288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1920240"/>
            <a:ext cx="1371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1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MULTILINGUAL</a:t>
            </a:r>
            <a:br/>
            <a:r>
              <a:t>NLU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2377440"/>
            <a:ext cx="731520" cy="1828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828800"/>
            <a:ext cx="1645920" cy="18288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920240"/>
            <a:ext cx="1371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1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0–100 ML</a:t>
            </a:r>
            <a:br/>
            <a:r>
              <a:t>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9704" y="2377440"/>
            <a:ext cx="731520" cy="1828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1645920" cy="18288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920240"/>
            <a:ext cx="1371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1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10KM</a:t>
            </a:r>
            <a:br/>
            <a:r>
              <a:t>DBSCAN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2377440"/>
            <a:ext cx="731520" cy="1828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73568" y="1828800"/>
            <a:ext cx="1645920" cy="18288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1920240"/>
            <a:ext cx="1371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rial"/>
              </a:defRPr>
            </a:pPr>
            <a:r>
              <a:t>05</a:t>
            </a:r>
          </a:p>
          <a:p>
            <a:pPr>
              <a:spcBef>
                <a:spcPts val="1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PRIORITY</a:t>
            </a:r>
            <a:br/>
            <a:r>
              <a:t>INDEX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8" y="2377440"/>
            <a:ext cx="731520" cy="1828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80" y="1828800"/>
            <a:ext cx="1645920" cy="1828800"/>
          </a:xfrm>
          <a:prstGeom prst="roundRect">
            <a:avLst/>
          </a:prstGeom>
          <a:solidFill>
            <a:srgbClr val="A3E635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920240"/>
            <a:ext cx="1371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0A0E"/>
                </a:solidFill>
                <a:latin typeface="Arial"/>
              </a:defRPr>
            </a:pPr>
            <a:r>
              <a:t>06</a:t>
            </a:r>
          </a:p>
          <a:p>
            <a:pPr>
              <a:spcBef>
                <a:spcPts val="1400"/>
              </a:spcBef>
              <a:defRPr sz="1200" b="1">
                <a:solidFill>
                  <a:srgbClr val="0A0A0E"/>
                </a:solidFill>
                <a:latin typeface="Arial"/>
              </a:defRPr>
            </a:pPr>
            <a:r>
              <a:t>AI POLICY</a:t>
            </a:r>
            <a:br/>
            <a:r>
              <a:t>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10728655" cy="21031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0624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Transcribe  ·  Translate  ·  Categorize  ·  0–100 Multi-Factor Severity Scorer  ·  Geospatial Clustering  ·  Sector Health Deficit</a:t>
            </a:r>
          </a:p>
          <a:p>
            <a:pPr>
              <a:spcBef>
                <a:spcPts val="1200"/>
              </a:spcBef>
              <a:defRPr sz="1200" b="1">
                <a:solidFill>
                  <a:srgbClr val="A3E635"/>
                </a:solidFill>
                <a:latin typeface="Arial"/>
              </a:defRPr>
            </a:pPr>
            <a:r>
              <a:t>TECHNICAL CORE</a:t>
            </a:r>
          </a:p>
          <a:p>
            <a:pPr>
              <a:spcBef>
                <a:spcPts val="400"/>
              </a:spcBef>
              <a:defRPr sz="1400">
                <a:solidFill>
                  <a:srgbClr val="A0A6B2"/>
                </a:solidFill>
                <a:latin typeface="Arial"/>
              </a:defRPr>
            </a:pPr>
            <a:r>
              <a:t>Multilingual Transformer NLU  +  Scikit-Learn DBSCAN  +  Haversine Matrix  +  Zero-Setup SQLite / 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rial"/>
              </a:defRPr>
            </a:pPr>
            <a:r>
              <a:t>DECISION SURFACE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From data to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SECTOR MATRIX &amp; RADAR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Real-time radial gauges for Water, Roads, Power, Sanitation &amp; autonomous threat radar sweep.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LIVE FEED &amp; TELEMETRY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Anonymized, AI-translated citizen requests with live institutional status tickers.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AI POLICY DIRECTIVES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Autonomous project solutions with actionable budgets, timelines, and policy review citations.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2468880" cy="17373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103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A3E635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50 Citizen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297680"/>
            <a:ext cx="2468880" cy="17373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389120"/>
            <a:ext cx="2103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A3E635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1 Geographic Hotspot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97680"/>
            <a:ext cx="2468880" cy="17373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2103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A3E635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1 Priority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297680"/>
            <a:ext cx="2468880" cy="1737360"/>
          </a:xfrm>
          <a:prstGeom prst="roundRect">
            <a:avLst/>
          </a:prstGeom>
          <a:solidFill>
            <a:srgbClr val="A3E635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389120"/>
            <a:ext cx="2103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A0A0E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0A0A0E"/>
                </a:solidFill>
                <a:latin typeface="Arial"/>
              </a:defRPr>
            </a:pPr>
            <a:r>
              <a:t>Policy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rial"/>
              </a:defRPr>
            </a:pPr>
            <a:r>
              <a:t>SYSTEM DESIGN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Simple, scalable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INPUT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Citizen Portal · Voice | Text | Custom Location | BRICS Nation Selector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65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API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FastAPI (Async Python 3.11 Backend) + Next.js 14 App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AI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Multilingual NLU Engine · Dialect Synthesis &amp; Project Solutions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38328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DATA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SQLite (Zero-Setup Engine) / PostgreSQL + PostGIS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657600"/>
            <a:ext cx="338328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7947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INTELLIGENCE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Scikit-Learn DBSCAN (10km Proximity) + 0–100 ML Severity Scorer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657600"/>
            <a:ext cx="3383280" cy="1645920"/>
          </a:xfrm>
          <a:prstGeom prst="roundRect">
            <a:avLst/>
          </a:prstGeom>
          <a:solidFill>
            <a:srgbClr val="A3E635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7947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E"/>
                </a:solidFill>
                <a:latin typeface="Arial"/>
              </a:defRPr>
            </a:pPr>
            <a:r>
              <a:t>OUTPUT</a:t>
            </a:r>
          </a:p>
          <a:p>
            <a:pPr>
              <a:spcBef>
                <a:spcPts val="800"/>
              </a:spcBef>
              <a:defRPr sz="1200">
                <a:solidFill>
                  <a:srgbClr val="0A0A0E"/>
                </a:solidFill>
                <a:latin typeface="Arial"/>
              </a:defRPr>
            </a:pPr>
            <a:r>
              <a:t>Policymaker Command Center · Sector Health Matrix &amp; Autonomous Radar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6B2"/>
                </a:solidFill>
                <a:latin typeface="Arial"/>
              </a:defRPr>
            </a:pPr>
            <a:r>
              <a:t>Supporting technologies:  Tailwind CSS  ·  Lucide Icons  ·  HTML5 Canvas Radar  ·  Interactive SVG Dials  ·  REST APIs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rial"/>
              </a:defRPr>
            </a:pPr>
            <a:r>
              <a:t>PRODUCTION-READY BY DESIGN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Built for real-world civic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27432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PRIVACY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PII sanitization &amp; anonymization before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27432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SECURITY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JWT + HTTP-only cookies &amp; input schema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27432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ACCESS CONTROL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RBAC: SuperAdmin | Policymaker | Analyst | Citizen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68880" cy="27432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0116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Arial"/>
              </a:defRPr>
            </a:pPr>
            <a:r>
              <a:t>SCALABILITY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Local ward → Regional → National → BRICS-scale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10728655" cy="100584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A0E"/>
                </a:solidFill>
                <a:latin typeface="Arial"/>
              </a:defRPr>
            </a:pPr>
            <a:r>
              <a:t>SUCCESS METRICS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0A0A0E"/>
                </a:solidFill>
                <a:latin typeface="Arial"/>
              </a:defRPr>
            </a:pPr>
            <a:r>
              <a:t>Processing Time  ·  Cluster Quality  ·  Multi-Factor ML Accuracy  ·  PII Removal Effectiveness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rial"/>
              </a:defRPr>
            </a:pPr>
            <a:r>
              <a:t>THE END-TO-END PROMISE</a:t>
            </a:r>
          </a:p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One report → one actionable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1.  Citizen Voice &amp; Text Report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2.  AI Multilingual Audio Synthesis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3.  Automatic Translation &amp; Hazard Tagging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4.  PII Sanitization &amp; Anonymization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5.  Geospatial Clustering (10km DBSCAN)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6.  0–100 Multi-Factor ML Severity Scoring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7.  AI Project Recommendation with Budget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8.  Sector Health Matrix &amp; Policy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rial"/>
              </a:defRPr>
            </a:pPr>
            <a:r>
              <a:t>REAL-WORLD EXAMPLE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“Pipeline rupture reported in Ward 4”</a:t>
            </a:r>
            <a:br/>
            <a:r>
              <a:t>→ Hotspot detected (10km DBSCAN)</a:t>
            </a:r>
            <a:br/>
            <a:r>
              <a:t>→ ML Severity 88/100 (Critical Hazard)</a:t>
            </a:r>
            <a:br/>
            <a:r>
              <a:t>→ Project Brief auto-drafted with $85,000 budget &amp; 4-day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93192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3E635"/>
                </a:solidFill>
                <a:latin typeface="Arial"/>
              </a:defRPr>
            </a:pPr>
            <a:r>
              <a:t>CIVICPULSE BRICS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  <a:latin typeface="Arial"/>
              </a:defRPr>
            </a:pPr>
            <a:r>
              <a:t>“Turning Citizen Voices into Actionable Infrastructure Intelligence.”</a:t>
            </a:r>
          </a:p>
          <a:p>
            <a:pPr>
              <a:spcBef>
                <a:spcPts val="800"/>
              </a:spcBef>
              <a:defRPr sz="1100">
                <a:solidFill>
                  <a:srgbClr val="A0A6B2"/>
                </a:solidFill>
                <a:latin typeface="Arial"/>
              </a:defRPr>
            </a:pPr>
            <a:r>
              <a:t>Build with AI: Code for Communities — Second Edition</a:t>
            </a:r>
            <a:br/>
            <a:r>
              <a:t>Multilingual AI · Geospatial Intelligence · Digital Public Goods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